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TT Firs Neue" charset="1" panose="02000503030000020004"/>
      <p:regular r:id="rId17"/>
    </p:embeddedFont>
    <p:embeddedFont>
      <p:font typeface="TT Firs Neue Bold" charset="1" panose="0200080303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3346" y="3597923"/>
            <a:ext cx="7722360" cy="2677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95"/>
              </a:lnSpc>
            </a:pPr>
            <a:r>
              <a:rPr lang="en-US" b="true" sz="6795">
                <a:solidFill>
                  <a:srgbClr val="15616D"/>
                </a:solidFill>
                <a:latin typeface="Poppins Bold"/>
                <a:ea typeface="Poppins Bold"/>
                <a:cs typeface="Poppins Bold"/>
                <a:sym typeface="Poppins Bold"/>
              </a:rPr>
              <a:t>MANJRASOFT ANEKA CLOUD AND APPLIANCES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305707" y="3647181"/>
            <a:ext cx="3555208" cy="3555208"/>
          </a:xfrm>
          <a:custGeom>
            <a:avLst/>
            <a:gdLst/>
            <a:ahLst/>
            <a:cxnLst/>
            <a:rect r="r" b="b" t="t" l="l"/>
            <a:pathLst>
              <a:path h="3555208" w="3555208">
                <a:moveTo>
                  <a:pt x="0" y="0"/>
                </a:moveTo>
                <a:lnTo>
                  <a:pt x="3555208" y="0"/>
                </a:lnTo>
                <a:lnTo>
                  <a:pt x="3555208" y="3555209"/>
                </a:lnTo>
                <a:lnTo>
                  <a:pt x="0" y="3555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864818">
            <a:off x="13903879" y="644423"/>
            <a:ext cx="3549726" cy="3938669"/>
          </a:xfrm>
          <a:custGeom>
            <a:avLst/>
            <a:gdLst/>
            <a:ahLst/>
            <a:cxnLst/>
            <a:rect r="r" b="b" t="t" l="l"/>
            <a:pathLst>
              <a:path h="3938669" w="3549726">
                <a:moveTo>
                  <a:pt x="0" y="0"/>
                </a:moveTo>
                <a:lnTo>
                  <a:pt x="3549726" y="0"/>
                </a:lnTo>
                <a:lnTo>
                  <a:pt x="3549726" y="3938669"/>
                </a:lnTo>
                <a:lnTo>
                  <a:pt x="0" y="39386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115016">
            <a:off x="9562757" y="7873476"/>
            <a:ext cx="4128480" cy="4128480"/>
          </a:xfrm>
          <a:custGeom>
            <a:avLst/>
            <a:gdLst/>
            <a:ahLst/>
            <a:cxnLst/>
            <a:rect r="r" b="b" t="t" l="l"/>
            <a:pathLst>
              <a:path h="4128480" w="4128480">
                <a:moveTo>
                  <a:pt x="0" y="0"/>
                </a:moveTo>
                <a:lnTo>
                  <a:pt x="4128481" y="0"/>
                </a:lnTo>
                <a:lnTo>
                  <a:pt x="4128481" y="4128480"/>
                </a:lnTo>
                <a:lnTo>
                  <a:pt x="0" y="4128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055806" y="2125398"/>
            <a:ext cx="6036205" cy="6036205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FFB70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8023" y="420342"/>
              <a:ext cx="5533953" cy="5509315"/>
            </a:xfrm>
            <a:custGeom>
              <a:avLst/>
              <a:gdLst/>
              <a:ahLst/>
              <a:cxnLst/>
              <a:rect r="r" b="b" t="t" l="l"/>
              <a:pathLst>
                <a:path h="5509315" w="5533953">
                  <a:moveTo>
                    <a:pt x="2766977" y="28"/>
                  </a:moveTo>
                  <a:cubicBezTo>
                    <a:pt x="1779908" y="-4386"/>
                    <a:pt x="865924" y="519676"/>
                    <a:pt x="371110" y="1373774"/>
                  </a:cubicBezTo>
                  <a:cubicBezTo>
                    <a:pt x="-123703" y="2227873"/>
                    <a:pt x="-123703" y="3281443"/>
                    <a:pt x="371110" y="4135542"/>
                  </a:cubicBezTo>
                  <a:cubicBezTo>
                    <a:pt x="865924" y="4989640"/>
                    <a:pt x="1779908" y="5513702"/>
                    <a:pt x="2766977" y="5509288"/>
                  </a:cubicBezTo>
                  <a:cubicBezTo>
                    <a:pt x="3754046" y="5513702"/>
                    <a:pt x="4668030" y="4989640"/>
                    <a:pt x="5162844" y="4135542"/>
                  </a:cubicBezTo>
                  <a:cubicBezTo>
                    <a:pt x="5657657" y="3281443"/>
                    <a:pt x="5657657" y="2227873"/>
                    <a:pt x="5162844" y="1373775"/>
                  </a:cubicBezTo>
                  <a:cubicBezTo>
                    <a:pt x="4668030" y="519676"/>
                    <a:pt x="3754046" y="-4386"/>
                    <a:pt x="2766977" y="28"/>
                  </a:cubicBezTo>
                  <a:close/>
                </a:path>
              </a:pathLst>
            </a:custGeom>
            <a:blipFill>
              <a:blip r:embed="rId5"/>
              <a:stretch>
                <a:fillRect l="223" t="0" r="22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46872" y="5602596"/>
            <a:ext cx="2609277" cy="260927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flipV="true">
            <a:off x="1047750" y="3224348"/>
            <a:ext cx="0" cy="4720232"/>
          </a:xfrm>
          <a:prstGeom prst="line">
            <a:avLst/>
          </a:prstGeom>
          <a:ln cap="flat" w="38100">
            <a:solidFill>
              <a:srgbClr val="1561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-5400000">
            <a:off x="-180127" y="403573"/>
            <a:ext cx="995948" cy="907523"/>
          </a:xfrm>
          <a:custGeom>
            <a:avLst/>
            <a:gdLst/>
            <a:ahLst/>
            <a:cxnLst/>
            <a:rect r="r" b="b" t="t" l="l"/>
            <a:pathLst>
              <a:path h="907523" w="995948">
                <a:moveTo>
                  <a:pt x="0" y="0"/>
                </a:moveTo>
                <a:lnTo>
                  <a:pt x="995949" y="0"/>
                </a:lnTo>
                <a:lnTo>
                  <a:pt x="995949" y="907524"/>
                </a:lnTo>
                <a:lnTo>
                  <a:pt x="0" y="9075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7618576" y="1795427"/>
            <a:ext cx="452444" cy="1085494"/>
          </a:xfrm>
          <a:custGeom>
            <a:avLst/>
            <a:gdLst/>
            <a:ahLst/>
            <a:cxnLst/>
            <a:rect r="r" b="b" t="t" l="l"/>
            <a:pathLst>
              <a:path h="1085494" w="452444">
                <a:moveTo>
                  <a:pt x="0" y="0"/>
                </a:moveTo>
                <a:lnTo>
                  <a:pt x="452444" y="0"/>
                </a:lnTo>
                <a:lnTo>
                  <a:pt x="452444" y="1085494"/>
                </a:lnTo>
                <a:lnTo>
                  <a:pt x="0" y="10854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04899" y="6575669"/>
            <a:ext cx="4102496" cy="33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</a:pPr>
            <a:r>
              <a:rPr lang="en-US" sz="194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www.manjrasoft.com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56804" y="8475448"/>
            <a:ext cx="2195335" cy="331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4"/>
              </a:lnSpc>
            </a:pPr>
            <a:r>
              <a:rPr lang="en-US" sz="194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Presented By: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4580" y="8475448"/>
            <a:ext cx="2195335" cy="348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64"/>
              </a:lnSpc>
            </a:pPr>
            <a:r>
              <a:rPr lang="en-US" sz="2046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VARUN KUMAR 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B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8275" y="5980316"/>
            <a:ext cx="8603236" cy="3687300"/>
            <a:chOff x="0" y="0"/>
            <a:chExt cx="2622538" cy="1124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2538" cy="1124006"/>
            </a:xfrm>
            <a:custGeom>
              <a:avLst/>
              <a:gdLst/>
              <a:ahLst/>
              <a:cxnLst/>
              <a:rect r="r" b="b" t="t" l="l"/>
              <a:pathLst>
                <a:path h="1124006" w="2622538">
                  <a:moveTo>
                    <a:pt x="22497" y="0"/>
                  </a:moveTo>
                  <a:lnTo>
                    <a:pt x="2600041" y="0"/>
                  </a:lnTo>
                  <a:cubicBezTo>
                    <a:pt x="2612466" y="0"/>
                    <a:pt x="2622538" y="10072"/>
                    <a:pt x="2622538" y="22497"/>
                  </a:cubicBezTo>
                  <a:lnTo>
                    <a:pt x="2622538" y="1101508"/>
                  </a:lnTo>
                  <a:cubicBezTo>
                    <a:pt x="2622538" y="1107475"/>
                    <a:pt x="2620168" y="1113197"/>
                    <a:pt x="2615949" y="1117416"/>
                  </a:cubicBezTo>
                  <a:cubicBezTo>
                    <a:pt x="2611730" y="1121635"/>
                    <a:pt x="2606008" y="1124006"/>
                    <a:pt x="2600041" y="1124006"/>
                  </a:cubicBezTo>
                  <a:lnTo>
                    <a:pt x="22497" y="1124006"/>
                  </a:lnTo>
                  <a:cubicBezTo>
                    <a:pt x="16531" y="1124006"/>
                    <a:pt x="10808" y="1121635"/>
                    <a:pt x="6589" y="1117416"/>
                  </a:cubicBezTo>
                  <a:cubicBezTo>
                    <a:pt x="2370" y="1113197"/>
                    <a:pt x="0" y="1107475"/>
                    <a:pt x="0" y="1101508"/>
                  </a:cubicBezTo>
                  <a:lnTo>
                    <a:pt x="0" y="22497"/>
                  </a:lnTo>
                  <a:cubicBezTo>
                    <a:pt x="0" y="16531"/>
                    <a:pt x="2370" y="10808"/>
                    <a:pt x="6589" y="6589"/>
                  </a:cubicBezTo>
                  <a:cubicBezTo>
                    <a:pt x="10808" y="2370"/>
                    <a:pt x="16531" y="0"/>
                    <a:pt x="22497" y="0"/>
                  </a:cubicBezTo>
                  <a:close/>
                </a:path>
              </a:pathLst>
            </a:custGeom>
            <a:solidFill>
              <a:srgbClr val="FFD97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07204" y="2398385"/>
            <a:ext cx="5461328" cy="6259950"/>
            <a:chOff x="0" y="0"/>
            <a:chExt cx="2188598" cy="25086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8598" cy="2508642"/>
            </a:xfrm>
            <a:custGeom>
              <a:avLst/>
              <a:gdLst/>
              <a:ahLst/>
              <a:cxnLst/>
              <a:rect r="r" b="b" t="t" l="l"/>
              <a:pathLst>
                <a:path h="2508642" w="2188598">
                  <a:moveTo>
                    <a:pt x="35440" y="0"/>
                  </a:moveTo>
                  <a:lnTo>
                    <a:pt x="2153159" y="0"/>
                  </a:lnTo>
                  <a:cubicBezTo>
                    <a:pt x="2162558" y="0"/>
                    <a:pt x="2171572" y="3734"/>
                    <a:pt x="2178218" y="10380"/>
                  </a:cubicBezTo>
                  <a:cubicBezTo>
                    <a:pt x="2184865" y="17026"/>
                    <a:pt x="2188598" y="26041"/>
                    <a:pt x="2188598" y="35440"/>
                  </a:cubicBezTo>
                  <a:lnTo>
                    <a:pt x="2188598" y="2473202"/>
                  </a:lnTo>
                  <a:cubicBezTo>
                    <a:pt x="2188598" y="2492775"/>
                    <a:pt x="2172732" y="2508642"/>
                    <a:pt x="2153159" y="2508642"/>
                  </a:cubicBezTo>
                  <a:lnTo>
                    <a:pt x="35440" y="2508642"/>
                  </a:lnTo>
                  <a:cubicBezTo>
                    <a:pt x="15867" y="2508642"/>
                    <a:pt x="0" y="2492775"/>
                    <a:pt x="0" y="2473202"/>
                  </a:cubicBezTo>
                  <a:lnTo>
                    <a:pt x="0" y="35440"/>
                  </a:lnTo>
                  <a:cubicBezTo>
                    <a:pt x="0" y="15867"/>
                    <a:pt x="15867" y="0"/>
                    <a:pt x="35440" y="0"/>
                  </a:cubicBezTo>
                  <a:close/>
                </a:path>
              </a:pathLst>
            </a:custGeom>
            <a:blipFill>
              <a:blip r:embed="rId2">
                <a:alphaModFix amt="91000"/>
              </a:blip>
              <a:stretch>
                <a:fillRect l="-1883" t="0" r="-18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4764" y="2612916"/>
            <a:ext cx="8062763" cy="2915444"/>
            <a:chOff x="0" y="0"/>
            <a:chExt cx="2123526" cy="7678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526" cy="767854"/>
            </a:xfrm>
            <a:custGeom>
              <a:avLst/>
              <a:gdLst/>
              <a:ahLst/>
              <a:cxnLst/>
              <a:rect r="r" b="b" t="t" l="l"/>
              <a:pathLst>
                <a:path h="767854" w="2123526">
                  <a:moveTo>
                    <a:pt x="24005" y="0"/>
                  </a:moveTo>
                  <a:lnTo>
                    <a:pt x="2099521" y="0"/>
                  </a:lnTo>
                  <a:cubicBezTo>
                    <a:pt x="2112779" y="0"/>
                    <a:pt x="2123526" y="10747"/>
                    <a:pt x="2123526" y="24005"/>
                  </a:cubicBezTo>
                  <a:lnTo>
                    <a:pt x="2123526" y="743848"/>
                  </a:lnTo>
                  <a:cubicBezTo>
                    <a:pt x="2123526" y="757106"/>
                    <a:pt x="2112779" y="767854"/>
                    <a:pt x="2099521" y="767854"/>
                  </a:cubicBezTo>
                  <a:lnTo>
                    <a:pt x="24005" y="767854"/>
                  </a:lnTo>
                  <a:cubicBezTo>
                    <a:pt x="10747" y="767854"/>
                    <a:pt x="0" y="757106"/>
                    <a:pt x="0" y="743848"/>
                  </a:cubicBezTo>
                  <a:lnTo>
                    <a:pt x="0" y="24005"/>
                  </a:lnTo>
                  <a:cubicBezTo>
                    <a:pt x="0" y="10747"/>
                    <a:pt x="10747" y="0"/>
                    <a:pt x="24005" y="0"/>
                  </a:cubicBezTo>
                  <a:close/>
                </a:path>
              </a:pathLst>
            </a:custGeom>
            <a:solidFill>
              <a:srgbClr val="15616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23526" cy="815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0735207">
            <a:off x="1790306" y="2975512"/>
            <a:ext cx="366782" cy="286701"/>
          </a:xfrm>
          <a:custGeom>
            <a:avLst/>
            <a:gdLst/>
            <a:ahLst/>
            <a:cxnLst/>
            <a:rect r="r" b="b" t="t" l="l"/>
            <a:pathLst>
              <a:path h="286701" w="366782">
                <a:moveTo>
                  <a:pt x="0" y="0"/>
                </a:moveTo>
                <a:lnTo>
                  <a:pt x="366782" y="0"/>
                </a:lnTo>
                <a:lnTo>
                  <a:pt x="366782" y="286701"/>
                </a:lnTo>
                <a:lnTo>
                  <a:pt x="0" y="28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355073" y="8463577"/>
            <a:ext cx="1289096" cy="734785"/>
          </a:xfrm>
          <a:custGeom>
            <a:avLst/>
            <a:gdLst/>
            <a:ahLst/>
            <a:cxnLst/>
            <a:rect r="r" b="b" t="t" l="l"/>
            <a:pathLst>
              <a:path h="734785" w="1289096">
                <a:moveTo>
                  <a:pt x="0" y="0"/>
                </a:moveTo>
                <a:lnTo>
                  <a:pt x="1289096" y="0"/>
                </a:lnTo>
                <a:lnTo>
                  <a:pt x="1289096" y="734785"/>
                </a:lnTo>
                <a:lnTo>
                  <a:pt x="0" y="734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1047750" y="3118862"/>
            <a:ext cx="0" cy="4720232"/>
          </a:xfrm>
          <a:prstGeom prst="line">
            <a:avLst/>
          </a:prstGeom>
          <a:ln cap="flat" w="38100">
            <a:solidFill>
              <a:srgbClr val="1561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554764" y="1292991"/>
            <a:ext cx="7871810" cy="972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0"/>
              </a:lnSpc>
            </a:pP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ANEKA?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3697" y="3340840"/>
            <a:ext cx="7452877" cy="152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4"/>
              </a:lnSpc>
            </a:pPr>
            <a:r>
              <a:rPr lang="en-US" sz="2188">
                <a:solidFill>
                  <a:srgbClr val="FFFFFF"/>
                </a:solidFill>
                <a:latin typeface="TT Firs Neue"/>
                <a:ea typeface="TT Firs Neue"/>
                <a:cs typeface="TT Firs Neue"/>
                <a:sym typeface="TT Firs Neue"/>
              </a:rPr>
              <a:t>Aneka is a software platform developed by Manjrasoft that provides a framework for building and running applications on private, public, or hybrid clouds by efficiently utilizing distributed computing resources.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73697" y="6259352"/>
            <a:ext cx="7170303" cy="58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839" indent="-179419" lvl="1">
              <a:lnSpc>
                <a:spcPts val="2326"/>
              </a:lnSpc>
              <a:buFont typeface="Arial"/>
              <a:buChar char="•"/>
            </a:pP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Aneka is a cloud application platform developed by Manjrasoft (Australia)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73697" y="7223675"/>
            <a:ext cx="7170303" cy="29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839" indent="-179419" lvl="1">
              <a:lnSpc>
                <a:spcPts val="2326"/>
              </a:lnSpc>
              <a:buFont typeface="Arial"/>
              <a:buChar char="•"/>
            </a:pP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It</a:t>
            </a: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supports parallel and distributed computing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73697" y="7911773"/>
            <a:ext cx="7170303" cy="29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839" indent="-179419" lvl="1">
              <a:lnSpc>
                <a:spcPts val="2326"/>
              </a:lnSpc>
              <a:buFont typeface="Arial"/>
              <a:buChar char="•"/>
            </a:pP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Acts</a:t>
            </a: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as middleware between applications and cloud resources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73697" y="8536483"/>
            <a:ext cx="7170303" cy="58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839" indent="-179419" lvl="1">
              <a:lnSpc>
                <a:spcPts val="2326"/>
              </a:lnSpc>
              <a:buFont typeface="Arial"/>
              <a:buChar char="•"/>
            </a:pP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Helps</a:t>
            </a:r>
            <a:r>
              <a:rPr lang="en-US" b="true" sz="1662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in development, deployment, and management of applications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0735207">
            <a:off x="1604246" y="6300883"/>
            <a:ext cx="366782" cy="286701"/>
          </a:xfrm>
          <a:custGeom>
            <a:avLst/>
            <a:gdLst/>
            <a:ahLst/>
            <a:cxnLst/>
            <a:rect r="r" b="b" t="t" l="l"/>
            <a:pathLst>
              <a:path h="286701" w="366782">
                <a:moveTo>
                  <a:pt x="0" y="0"/>
                </a:moveTo>
                <a:lnTo>
                  <a:pt x="366782" y="0"/>
                </a:lnTo>
                <a:lnTo>
                  <a:pt x="366782" y="286701"/>
                </a:lnTo>
                <a:lnTo>
                  <a:pt x="0" y="2867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203893" y="8801125"/>
            <a:ext cx="64679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Aneka was introduced in 2007 by Manjrasoft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B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7960" y="552563"/>
            <a:ext cx="8649136" cy="47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0"/>
              </a:lnSpc>
            </a:pPr>
            <a:r>
              <a:rPr lang="en-US" b="true" sz="33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ANEKA? WHY DO WE NEED ANEKA?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976151" y="1180580"/>
            <a:ext cx="635758" cy="1115365"/>
          </a:xfrm>
          <a:custGeom>
            <a:avLst/>
            <a:gdLst/>
            <a:ahLst/>
            <a:cxnLst/>
            <a:rect r="r" b="b" t="t" l="l"/>
            <a:pathLst>
              <a:path h="1115365" w="635758">
                <a:moveTo>
                  <a:pt x="0" y="0"/>
                </a:moveTo>
                <a:lnTo>
                  <a:pt x="635758" y="0"/>
                </a:lnTo>
                <a:lnTo>
                  <a:pt x="635758" y="1115365"/>
                </a:lnTo>
                <a:lnTo>
                  <a:pt x="0" y="1115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9858641" y="2499049"/>
            <a:ext cx="0" cy="6747809"/>
          </a:xfrm>
          <a:prstGeom prst="line">
            <a:avLst/>
          </a:prstGeom>
          <a:ln cap="flat" w="38100">
            <a:solidFill>
              <a:srgbClr val="1561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209512" y="2441899"/>
            <a:ext cx="2573003" cy="463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4"/>
              </a:lnSpc>
              <a:spcBef>
                <a:spcPct val="0"/>
              </a:spcBef>
            </a:pPr>
            <a:r>
              <a:rPr lang="en-US" b="true" sz="2724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Without Aneka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510249"/>
            <a:ext cx="6736917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Complex development of distributed/parallel 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95875"/>
            <a:ext cx="847852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Manual resource management (no centralized control)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325221"/>
            <a:ext cx="477170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Slow deployment and scaling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85046"/>
            <a:ext cx="720248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Difficult to maintain performance (QoS issues)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31016" y="2499918"/>
            <a:ext cx="424418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With Aneka (by Manjrasoft)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47570" y="3510249"/>
            <a:ext cx="566785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Easy development using ready APIs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7570" y="5095875"/>
            <a:ext cx="695721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Centralized monitoring &amp; management tools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78223" y="6325221"/>
            <a:ext cx="511762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Fast deployment and scalability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47570" y="7554566"/>
            <a:ext cx="499697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Efficient resource utilization with better performance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EB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3052" y="471424"/>
            <a:ext cx="11881896" cy="9344151"/>
          </a:xfrm>
          <a:custGeom>
            <a:avLst/>
            <a:gdLst/>
            <a:ahLst/>
            <a:cxnLst/>
            <a:rect r="r" b="b" t="t" l="l"/>
            <a:pathLst>
              <a:path h="9344151" w="11881896">
                <a:moveTo>
                  <a:pt x="0" y="0"/>
                </a:moveTo>
                <a:lnTo>
                  <a:pt x="11881896" y="0"/>
                </a:lnTo>
                <a:lnTo>
                  <a:pt x="11881896" y="9344152"/>
                </a:lnTo>
                <a:lnTo>
                  <a:pt x="0" y="934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19" r="0" b="-61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70711" y="9767951"/>
            <a:ext cx="57199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Architecture and components of Aneka.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286762" y="1252524"/>
            <a:ext cx="3551555" cy="0"/>
          </a:xfrm>
          <a:prstGeom prst="line">
            <a:avLst/>
          </a:prstGeom>
          <a:ln cap="flat" w="38100">
            <a:solidFill>
              <a:srgbClr val="15616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286762" y="619819"/>
            <a:ext cx="3551555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Aneka Capabilities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73465" y="1490649"/>
            <a:ext cx="108521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 Build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2150" y="1907453"/>
            <a:ext cx="87417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Provides SDK (APIs + tools) for fast application development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2964" y="2383155"/>
            <a:ext cx="646969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Can create private, public, and hybrid clouds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2964" y="2931795"/>
            <a:ext cx="1132871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Uses resources from enterprise systems and cloud platforms like Amazon EC2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9419" y="3709035"/>
            <a:ext cx="206644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Accelerate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2964" y="4257675"/>
            <a:ext cx="641143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Supports multiple OS (Windows, Linux/UNIX)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032" y="4811376"/>
            <a:ext cx="785558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Uses local machines efficiently for better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032" y="5454013"/>
            <a:ext cx="1062323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If resources are not enough → adds extra resources from cloud (like EC2)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2964" y="6096650"/>
            <a:ext cx="609774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Helps meet deadlines (QoS requirements)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8051" y="6826265"/>
            <a:ext cx="162448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3. Manage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2964" y="7451105"/>
            <a:ext cx="710342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Provides GUI and APIs for monitoring and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032" y="8009270"/>
            <a:ext cx="653669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Helps in managing cloud infrastructure easily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032" y="8634110"/>
            <a:ext cx="755332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Includes accounting and resource allocation system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032" y="9258950"/>
            <a:ext cx="566324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Supports scalability based on SLA/QoS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23208" y="865565"/>
            <a:ext cx="12441584" cy="8555869"/>
          </a:xfrm>
          <a:custGeom>
            <a:avLst/>
            <a:gdLst/>
            <a:ahLst/>
            <a:cxnLst/>
            <a:rect r="r" b="b" t="t" l="l"/>
            <a:pathLst>
              <a:path h="8555869" w="12441584">
                <a:moveTo>
                  <a:pt x="0" y="0"/>
                </a:moveTo>
                <a:lnTo>
                  <a:pt x="12441584" y="0"/>
                </a:lnTo>
                <a:lnTo>
                  <a:pt x="12441584" y="8555870"/>
                </a:lnTo>
                <a:lnTo>
                  <a:pt x="0" y="8555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04135" y="9470336"/>
            <a:ext cx="1307973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Aneka using private cloud resources along with dynamically leased public cloud resources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3531" y="981075"/>
            <a:ext cx="299148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Aneka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9476" y="1663990"/>
            <a:ext cx="887725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Uses multiple machines (physical + virtual) connected together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9476" y="2703485"/>
            <a:ext cx="839898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Each machine runs an Aneka Container (manages services)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9476" y="3742980"/>
            <a:ext cx="85642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Uses PAL (Platform Abstraction Layer) to handle different 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5742" y="5473246"/>
            <a:ext cx="316706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Three Main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9755" y="6129385"/>
            <a:ext cx="85075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Fabric Services → Manage basic resources &amp; hardware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9755" y="7702915"/>
            <a:ext cx="882697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</a:t>
            </a: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oundation Services → Handle storage, billing, monitoring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9755" y="6916150"/>
            <a:ext cx="822944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Application Services → Run and manage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580" y="1363965"/>
            <a:ext cx="1216115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Aneka Maya Rendering Case Study shows how Manjrasoft’s Aneka platform was used to speed up 3D rendering (using Autodesk Maya) by distributing the work across multiple computers in a cloud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1988" y="622935"/>
            <a:ext cx="771747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Aneka Application of Maya Rendering Case Study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6073" y="2408539"/>
            <a:ext cx="793718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GoFront Group used Aneka for high-speed 3D rendering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6073" y="3079615"/>
            <a:ext cx="806862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Earlier: 3 days to render 2000+ frames on a single server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4507" y="3852410"/>
            <a:ext cx="822901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Solution: Created enterprise cloud using multiple PCs (20 nodes)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988" y="5105400"/>
            <a:ext cx="753046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Used Aneka Design Explorer to divide rendering tasks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988" y="5875702"/>
            <a:ext cx="721328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Each system processed different frames in parallel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6073" y="6838997"/>
            <a:ext cx="7676198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Result: Rendering time reduced from 3 days → 3 hours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507" y="7862451"/>
            <a:ext cx="77707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Benefit: Faster design improvement and higher productivity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057946" y="2973398"/>
            <a:ext cx="8890731" cy="5480758"/>
          </a:xfrm>
          <a:custGeom>
            <a:avLst/>
            <a:gdLst/>
            <a:ahLst/>
            <a:cxnLst/>
            <a:rect r="r" b="b" t="t" l="l"/>
            <a:pathLst>
              <a:path h="5480758" w="8890731">
                <a:moveTo>
                  <a:pt x="0" y="0"/>
                </a:moveTo>
                <a:lnTo>
                  <a:pt x="8890731" y="0"/>
                </a:lnTo>
                <a:lnTo>
                  <a:pt x="8890731" y="5480757"/>
                </a:lnTo>
                <a:lnTo>
                  <a:pt x="0" y="54807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3746"/>
            <a:ext cx="10708866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Virtual Appliances are pre-configured virtual machines that include everything needed (OS, software, libraries) so applications can run instantly without setup in cloud environments like Aneka.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02005"/>
            <a:ext cx="286337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V</a:t>
            </a: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irtual Appliances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3494" y="3746345"/>
            <a:ext cx="923940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Built using virtualization tools like VirtualBox, KVM, VMware Player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23494" y="4427106"/>
            <a:ext cx="793527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Contains complete software stack (OS + apps + configs)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494" y="4999876"/>
            <a:ext cx="767175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Works out-of-the-box (no manual installation needed)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3494" y="5677420"/>
            <a:ext cx="6507956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Reduces dependency on system environment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3494" y="6354965"/>
            <a:ext cx="5906452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Improves flexibility, security, and isolation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EE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01351" y="4632324"/>
            <a:ext cx="4285297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b="true" sz="5499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DAHIEdM4aMQ</dc:identifier>
  <dcterms:modified xsi:type="dcterms:W3CDTF">2011-08-01T06:04:30Z</dcterms:modified>
  <cp:revision>1</cp:revision>
  <dc:title>Manjrasoft Aneka Cloud Platform Overview</dc:title>
</cp:coreProperties>
</file>